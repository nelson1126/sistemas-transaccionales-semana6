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42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2222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63680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1516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455858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10037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8903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EF3EF0-D32E-0533-48DA-D898ADA314E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19040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900079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830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94BE14-774F-00F2-2C94-8BE5B3C81B9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5078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156623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773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BFE1EB-2F02-87F4-55C1-4AB1AA8DCEB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6D7B9F-6406-8EAE-16D6-9EA5F6EDE3D0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80039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797911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972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CFA3D7-6297-A395-DCDA-50AF0B2F444B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FB9772-8491-E82A-DB99-7502EEE9E0B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1B8C4C-AE12-9956-8B16-9954108653D2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0553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1803011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5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BDB285-2DDF-2964-9867-F9C08E43A742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71F52A-7C64-E360-A9B0-88B3EC86027A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77550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1454823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480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5BFA1E-29A5-EDD5-4142-947EE07D45C6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8D33C6-F96D-71A5-BCD8-3EC64084DFEE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E931B-4D16-53A4-261C-1FAEFDD9FC5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80EA84-CC88-C3D4-B4E9-C3EE22784D17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591F24-45FC-1EEF-1642-6124E5046CB5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A1E5A-A319-B6D2-0FD2-9E04C3CBB42A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2779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89881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190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7293D4-C2A7-9B2E-28A6-D180A1FEB452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611E88-8C37-0562-05D2-3D7EAC15E919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E5FF31-BA30-734F-5E38-3FB1AAB78BF5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0B968A-1DDC-4BDC-6CC3-9ABB71675E4B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AC9D40-3B38-8433-17C2-12A95B75D0DE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79ED77-8DB7-14AD-164C-E32F034C701A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114FA4-E8CB-9A61-7CD1-CC7269A346A7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A3A98B-B14E-642C-C448-3556F180F8E7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85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44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39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88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8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01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972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31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74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1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365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01651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2048285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176904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16049400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1530" y="3212975"/>
            <a:ext cx="8534399" cy="1752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838834192" name="Title 1"/>
          <p:cNvSpPr>
            <a:spLocks noGrp="1"/>
          </p:cNvSpPr>
          <p:nvPr>
            <p:ph type="title"/>
          </p:nvPr>
        </p:nvSpPr>
        <p:spPr bwMode="auto">
          <a:xfrm>
            <a:off x="920054" y="1204857"/>
            <a:ext cx="10339617" cy="1910715"/>
          </a:xfrm>
        </p:spPr>
        <p:txBody>
          <a:bodyPr anchor="b"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118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3197693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87063020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286827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8211694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6290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1" y="1484784"/>
            <a:ext cx="10312995" cy="4104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832182600" name="Title 10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6007102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34611093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407572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0499" name="Title 1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5279446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72049670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509404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10443599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1556793"/>
            <a:ext cx="5071871" cy="4563770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72390072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1556793"/>
            <a:ext cx="5071871" cy="4563770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932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790495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402" y="1556791"/>
            <a:ext cx="5080583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5798038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2492895"/>
            <a:ext cx="5071871" cy="3627666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5853477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384031" y="1556791"/>
            <a:ext cx="5074114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52812652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48341551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74536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517104806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2492897"/>
            <a:ext cx="5071871" cy="3780066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2760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00733159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74446204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998291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3317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6141043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166546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817969" name="Title 1"/>
          <p:cNvSpPr>
            <a:spLocks noGrp="1"/>
          </p:cNvSpPr>
          <p:nvPr>
            <p:ph type="title"/>
          </p:nvPr>
        </p:nvSpPr>
        <p:spPr bwMode="auto">
          <a:xfrm>
            <a:off x="6712773" y="596974"/>
            <a:ext cx="4563310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69066396" name="Content Placeholder 2"/>
          <p:cNvSpPr>
            <a:spLocks noGrp="1"/>
          </p:cNvSpPr>
          <p:nvPr>
            <p:ph idx="1"/>
          </p:nvPr>
        </p:nvSpPr>
        <p:spPr bwMode="auto">
          <a:xfrm>
            <a:off x="922669" y="559398"/>
            <a:ext cx="5488889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6525656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12773" y="2618910"/>
            <a:ext cx="4548966" cy="350219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97062697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48380216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33108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134346" name="Title 1"/>
          <p:cNvSpPr>
            <a:spLocks noGrp="1"/>
          </p:cNvSpPr>
          <p:nvPr>
            <p:ph type="title"/>
          </p:nvPr>
        </p:nvSpPr>
        <p:spPr bwMode="auto">
          <a:xfrm>
            <a:off x="903642" y="4668818"/>
            <a:ext cx="10356027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298122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985" y="5324305"/>
            <a:ext cx="10341685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4611432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543606" y="620687"/>
            <a:ext cx="6929454" cy="3897818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1389816212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209840115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06183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57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rendesql.dev/transaccion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.mysql.com/downloads/connector/j/" TargetMode="Externa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AhXDquWtuhU?si=Q7SEwiKxjS2SwLj7" TargetMode="External"/><Relationship Id="rId3" Type="http://schemas.openxmlformats.org/officeDocument/2006/relationships/hyperlink" Target="https://youtu.be/knVwokXITGI?si=zePQ_bL8dbsbiWlP" TargetMode="External"/><Relationship Id="rId7" Type="http://schemas.openxmlformats.org/officeDocument/2006/relationships/hyperlink" Target="https://www.youtube.com/watch?v=H9sN8KJYHkQ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mAE5LcQgKwA" TargetMode="External"/><Relationship Id="rId11" Type="http://schemas.openxmlformats.org/officeDocument/2006/relationships/hyperlink" Target="https://youtu.be/ppDv4N5A31E?si=cR8uRyURtHHJqgEZ" TargetMode="External"/><Relationship Id="rId5" Type="http://schemas.openxmlformats.org/officeDocument/2006/relationships/hyperlink" Target="https://www.youtube.com/watch?v=xiTfest5ApU" TargetMode="External"/><Relationship Id="rId10" Type="http://schemas.openxmlformats.org/officeDocument/2006/relationships/hyperlink" Target="https://youtu.be/m8HjnweSMAI?si=MDvrUvbzUJYpuwOC" TargetMode="External"/><Relationship Id="rId4" Type="http://schemas.openxmlformats.org/officeDocument/2006/relationships/hyperlink" Target="https://www.youtube.com/watch?v=m-VztZYm1jE" TargetMode="External"/><Relationship Id="rId9" Type="http://schemas.openxmlformats.org/officeDocument/2006/relationships/hyperlink" Target="https://youtu.be/mhDqL2SUXJc?si=x2PXrZ6Y_QQ3VF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0ABB2F3-396F-9118-E78C-ED652BEB5A88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330010" y="624774"/>
            <a:ext cx="8806953" cy="254158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defRPr/>
            </a:pPr>
            <a:r>
              <a:rPr lang="es-CO" sz="4800" b="1" dirty="0">
                <a:solidFill>
                  <a:schemeClr val="tx2"/>
                </a:solidFill>
              </a:rPr>
              <a:t>SOLUCIÓN DE EMPRESA DE ELECTRÓNICOS </a:t>
            </a:r>
            <a:endParaRPr sz="4800" b="1" dirty="0">
              <a:solidFill>
                <a:schemeClr val="tx2"/>
              </a:solidFill>
            </a:endParaRP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5077D710-A626-4E87-8D87-308033E36DAF}"/>
              </a:ext>
            </a:extLst>
          </p:cNvPr>
          <p:cNvSpPr txBox="1">
            <a:spLocks/>
          </p:cNvSpPr>
          <p:nvPr/>
        </p:nvSpPr>
        <p:spPr bwMode="auto">
          <a:xfrm>
            <a:off x="2412122" y="3691640"/>
            <a:ext cx="8642727" cy="187358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s-MX" sz="1800" dirty="0"/>
              <a:t>Nelson Bernal</a:t>
            </a:r>
            <a:br>
              <a:rPr lang="es-MX" sz="1800" dirty="0"/>
            </a:br>
            <a:r>
              <a:rPr lang="es-MX" sz="1800" dirty="0"/>
              <a:t>Universidad </a:t>
            </a:r>
            <a:r>
              <a:rPr lang="es-MX" sz="1800" dirty="0" err="1"/>
              <a:t>Uniminuto</a:t>
            </a:r>
            <a:br>
              <a:rPr lang="es-MX" sz="1800" dirty="0"/>
            </a:br>
            <a:r>
              <a:rPr lang="es-MX" sz="1800" dirty="0"/>
              <a:t>Corporación Universitaria Minuto de Dios</a:t>
            </a:r>
            <a:br>
              <a:rPr lang="es-MX" sz="1800" dirty="0"/>
            </a:br>
            <a:r>
              <a:rPr lang="es-MX" sz="1800" dirty="0"/>
              <a:t>NRC-8392 - Sistemas Transaccionales - Semana 6</a:t>
            </a:r>
            <a:br>
              <a:rPr lang="es-MX" sz="1800" dirty="0"/>
            </a:br>
            <a:r>
              <a:rPr lang="es-MX" sz="1800" dirty="0"/>
              <a:t>Alejandro Urrea Ospina</a:t>
            </a:r>
          </a:p>
        </p:txBody>
      </p:sp>
    </p:spTree>
    <p:extLst>
      <p:ext uri="{BB962C8B-B14F-4D97-AF65-F5344CB8AC3E}">
        <p14:creationId xmlns:p14="http://schemas.microsoft.com/office/powerpoint/2010/main" val="267771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094941" name="Title 10"/>
          <p:cNvSpPr>
            <a:spLocks noGrp="1"/>
          </p:cNvSpPr>
          <p:nvPr>
            <p:ph type="title"/>
          </p:nvPr>
        </p:nvSpPr>
        <p:spPr bwMode="auto">
          <a:xfrm>
            <a:off x="740979" y="82925"/>
            <a:ext cx="10843394" cy="1308676"/>
          </a:xfrm>
        </p:spPr>
        <p:txBody>
          <a:bodyPr/>
          <a:lstStyle/>
          <a:p>
            <a:pPr algn="ctr">
              <a:defRPr/>
            </a:pPr>
            <a:r>
              <a:rPr lang="es-CO" sz="3500" dirty="0">
                <a:solidFill>
                  <a:srgbClr val="0A1429"/>
                </a:solidFill>
              </a:rPr>
              <a:t>ELABORACIÓN DE EJERCICIO DE SISTEMAS TRANSACCIONALES </a:t>
            </a:r>
            <a:endParaRPr sz="3500" dirty="0">
              <a:solidFill>
                <a:srgbClr val="0A1429"/>
              </a:solidFill>
            </a:endParaRPr>
          </a:p>
        </p:txBody>
      </p:sp>
      <p:pic>
        <p:nvPicPr>
          <p:cNvPr id="214711919" name="Imagen 21471191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9874" y="1381124"/>
            <a:ext cx="5470156" cy="3927957"/>
          </a:xfrm>
          <a:prstGeom prst="rect">
            <a:avLst/>
          </a:prstGeom>
        </p:spPr>
      </p:pic>
      <p:pic>
        <p:nvPicPr>
          <p:cNvPr id="543727807" name="Imagen 54372780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9" y="1520824"/>
            <a:ext cx="5488374" cy="3695806"/>
          </a:xfrm>
          <a:prstGeom prst="rect">
            <a:avLst/>
          </a:prstGeom>
        </p:spPr>
      </p:pic>
      <p:pic>
        <p:nvPicPr>
          <p:cNvPr id="1083245500" name="Imagen 108324549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533531" y="5073756"/>
            <a:ext cx="6162674" cy="153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299561" name="Título 1"/>
          <p:cNvSpPr>
            <a:spLocks noGrp="1"/>
          </p:cNvSpPr>
          <p:nvPr>
            <p:ph type="title"/>
          </p:nvPr>
        </p:nvSpPr>
        <p:spPr bwMode="auto">
          <a:xfrm>
            <a:off x="414374" y="173950"/>
            <a:ext cx="5095874" cy="1130089"/>
          </a:xfrm>
        </p:spPr>
        <p:txBody>
          <a:bodyPr anchor="ctr"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  <a:latin typeface="+mn-lt"/>
              </a:rPr>
              <a:t>CREACIÓN </a:t>
            </a:r>
            <a:r>
              <a:rPr lang="es-CO" sz="3000" dirty="0">
                <a:solidFill>
                  <a:srgbClr val="0A1429"/>
                </a:solidFill>
                <a:latin typeface="Times New Roman"/>
              </a:rPr>
              <a:t>DE </a:t>
            </a:r>
            <a:r>
              <a:rPr lang="es-CO" sz="3000" dirty="0" err="1">
                <a:solidFill>
                  <a:srgbClr val="0A1429"/>
                </a:solidFill>
                <a:latin typeface="Times New Roman"/>
              </a:rPr>
              <a:t>BAsE</a:t>
            </a:r>
            <a:r>
              <a:rPr lang="es-CO" sz="3000" dirty="0">
                <a:solidFill>
                  <a:srgbClr val="0A1429"/>
                </a:solidFill>
                <a:latin typeface="Times New Roman"/>
              </a:rPr>
              <a:t> DE DATOS </a:t>
            </a:r>
            <a:endParaRPr sz="3000" dirty="0">
              <a:solidFill>
                <a:srgbClr val="0A1429"/>
              </a:solidFill>
            </a:endParaRPr>
          </a:p>
        </p:txBody>
      </p:sp>
      <p:sp>
        <p:nvSpPr>
          <p:cNvPr id="1535439048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303249" y="1304040"/>
            <a:ext cx="5683249" cy="117245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72500" lnSpcReduction="20000"/>
          </a:bodyPr>
          <a:lstStyle/>
          <a:p>
            <a:pPr>
              <a:defRPr/>
            </a:pPr>
            <a:r>
              <a:rPr lang="es-CO" sz="1600" dirty="0">
                <a:solidFill>
                  <a:srgbClr val="0A1429"/>
                </a:solidFill>
              </a:rPr>
              <a:t>En la aplicación de MYSQL </a:t>
            </a:r>
            <a:r>
              <a:rPr lang="es-CO" sz="1600" dirty="0" err="1">
                <a:solidFill>
                  <a:srgbClr val="0A1429"/>
                </a:solidFill>
              </a:rPr>
              <a:t>Workbench</a:t>
            </a:r>
            <a:r>
              <a:rPr lang="es-CO" sz="1600" dirty="0">
                <a:solidFill>
                  <a:srgbClr val="0A1429"/>
                </a:solidFill>
              </a:rPr>
              <a:t>  se va crear la base de datos. </a:t>
            </a:r>
            <a:endParaRPr sz="1600" dirty="0">
              <a:solidFill>
                <a:srgbClr val="0A1429"/>
              </a:solidFill>
            </a:endParaRPr>
          </a:p>
          <a:p>
            <a:pPr>
              <a:defRPr/>
            </a:pPr>
            <a:r>
              <a:rPr lang="es-CO" sz="1600" dirty="0">
                <a:solidFill>
                  <a:srgbClr val="0A1429"/>
                </a:solidFill>
              </a:rPr>
              <a:t> </a:t>
            </a:r>
            <a:endParaRPr sz="1600" dirty="0">
              <a:solidFill>
                <a:srgbClr val="0A1429"/>
              </a:solidFill>
            </a:endParaRPr>
          </a:p>
          <a:p>
            <a:pPr>
              <a:defRPr/>
            </a:pPr>
            <a:r>
              <a:rPr lang="es-CO" sz="1600" dirty="0">
                <a:solidFill>
                  <a:srgbClr val="0A1429"/>
                </a:solidFill>
              </a:rPr>
              <a:t>Hay mismo se va hacer creación de las tablas  incluyendo las llaves primarias y en las columnas es donde se va añadir  la información que se le va insertar más adelante.</a:t>
            </a:r>
            <a:endParaRPr sz="1500" dirty="0"/>
          </a:p>
        </p:txBody>
      </p:sp>
      <p:pic>
        <p:nvPicPr>
          <p:cNvPr id="1771864626" name="Imagen 177186462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15074" y="82549"/>
            <a:ext cx="5656299" cy="5886449"/>
          </a:xfrm>
          <a:prstGeom prst="rect">
            <a:avLst/>
          </a:prstGeom>
        </p:spPr>
      </p:pic>
      <p:pic>
        <p:nvPicPr>
          <p:cNvPr id="545961612" name="Imagen 5459616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5999" y="2744092"/>
            <a:ext cx="4794249" cy="3859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201352" name="Título 1"/>
          <p:cNvSpPr>
            <a:spLocks noGrp="1"/>
          </p:cNvSpPr>
          <p:nvPr>
            <p:ph type="title"/>
          </p:nvPr>
        </p:nvSpPr>
        <p:spPr bwMode="auto">
          <a:xfrm>
            <a:off x="763624" y="238124"/>
            <a:ext cx="9810749" cy="997149"/>
          </a:xfrm>
        </p:spPr>
        <p:txBody>
          <a:bodyPr anchor="ctr"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INSERTAR DATOS A LA TABLA DE PRODUCTOS </a:t>
            </a:r>
            <a:endParaRPr sz="3000" dirty="0">
              <a:solidFill>
                <a:srgbClr val="0A1429"/>
              </a:solidFill>
            </a:endParaRPr>
          </a:p>
        </p:txBody>
      </p:sp>
      <p:sp>
        <p:nvSpPr>
          <p:cNvPr id="1924423354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492437" y="1235274"/>
            <a:ext cx="4288998" cy="18776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just">
              <a:defRPr/>
            </a:pPr>
            <a:r>
              <a:rPr lang="es-CO" sz="1600" dirty="0">
                <a:solidFill>
                  <a:srgbClr val="0A1429"/>
                </a:solidFill>
              </a:rPr>
              <a:t>En las tablas creadas anteriormente  solo se va a añadir la información a 2 tablas, que son las que van hacer las principales,  pero van atener una conexión con las otras 2 tablas restantes para que cuando se ejecute la información aparezcan las demás tablas.</a:t>
            </a:r>
            <a:endParaRPr sz="1600" dirty="0">
              <a:solidFill>
                <a:srgbClr val="0A1429"/>
              </a:solidFill>
            </a:endParaRPr>
          </a:p>
        </p:txBody>
      </p:sp>
      <p:pic>
        <p:nvPicPr>
          <p:cNvPr id="126736400" name="Imagen 12673639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13374" y="1526158"/>
            <a:ext cx="6586189" cy="4176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673476" name="Title 10"/>
          <p:cNvSpPr>
            <a:spLocks noGrp="1"/>
          </p:cNvSpPr>
          <p:nvPr>
            <p:ph type="title"/>
          </p:nvPr>
        </p:nvSpPr>
        <p:spPr bwMode="auto">
          <a:xfrm>
            <a:off x="1087822" y="163293"/>
            <a:ext cx="9809814" cy="1049235"/>
          </a:xfrm>
        </p:spPr>
        <p:txBody>
          <a:bodyPr/>
          <a:lstStyle/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+mj-lt"/>
                <a:ea typeface="+mj-ea"/>
                <a:cs typeface="+mj-cs"/>
              </a:rPr>
              <a:t>IMPLEMENTACION DE TRANSACCIONES  </a:t>
            </a:r>
            <a:endParaRPr sz="3000" dirty="0">
              <a:solidFill>
                <a:srgbClr val="0A1429"/>
              </a:solidFill>
            </a:endParaRPr>
          </a:p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+mj-lt"/>
                <a:ea typeface="+mj-ea"/>
                <a:cs typeface="+mj-cs"/>
              </a:rPr>
              <a:t>ASI SEVERIA EN JAVA </a:t>
            </a:r>
            <a:endParaRPr sz="3000" dirty="0">
              <a:solidFill>
                <a:srgbClr val="0A1429"/>
              </a:solidFill>
            </a:endParaRPr>
          </a:p>
        </p:txBody>
      </p:sp>
      <p:sp>
        <p:nvSpPr>
          <p:cNvPr id="942949167" name="Content Placeholder 2"/>
          <p:cNvSpPr>
            <a:spLocks noGrp="1"/>
          </p:cNvSpPr>
          <p:nvPr>
            <p:ph idx="1"/>
          </p:nvPr>
        </p:nvSpPr>
        <p:spPr bwMode="auto">
          <a:xfrm>
            <a:off x="350874" y="3973833"/>
            <a:ext cx="5745126" cy="21170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0"/>
          </a:bodyPr>
          <a:lstStyle/>
          <a:p>
            <a:pPr>
              <a:defRPr/>
            </a:pP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donde se va actualizar una de las 2 tablas que tienen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informacion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añadida.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la segunda imagen es donde añade una de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informacion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seguntabla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creada, y valida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la multiplica  vara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 valor total 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mismo si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infomacion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ingresaste fue correcta   le das en COMMIT</a:t>
            </a:r>
            <a:r>
              <a:rPr lang="es-CO" sz="1600" dirty="0">
                <a:solidFill>
                  <a:schemeClr val="tx1"/>
                </a:solidFill>
              </a:rPr>
              <a:t>.</a:t>
            </a:r>
            <a:endParaRPr sz="1300" dirty="0"/>
          </a:p>
        </p:txBody>
      </p:sp>
      <p:sp>
        <p:nvSpPr>
          <p:cNvPr id="1971571797" name="Content Placeholder 2"/>
          <p:cNvSpPr>
            <a:spLocks noGrp="1"/>
          </p:cNvSpPr>
          <p:nvPr/>
        </p:nvSpPr>
        <p:spPr bwMode="auto">
          <a:xfrm>
            <a:off x="6383140" y="3973833"/>
            <a:ext cx="5554433" cy="161924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342900" indent="-342900" algn="l" defTabSz="914400" rtl="0">
              <a:spcBef>
                <a:spcPts val="0"/>
              </a:spcBef>
              <a:buClrTx/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54378" indent="-342900" algn="l" defTabSz="914400" rtl="0">
              <a:spcBef>
                <a:spcPts val="0"/>
              </a:spcBef>
              <a:buClrTx/>
              <a:buFont typeface="Times New Roman"/>
              <a:buChar char="–"/>
              <a:defRPr sz="2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20140" indent="-342900" algn="l" defTabSz="914400" rtl="0">
              <a:spcBef>
                <a:spcPts val="0"/>
              </a:spcBef>
              <a:buClrTx/>
              <a:buFont typeface="Arial"/>
              <a:buChar char="•"/>
              <a:defRPr sz="20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74470" indent="-285750" algn="l" defTabSz="914400" rtl="0">
              <a:spcBef>
                <a:spcPts val="0"/>
              </a:spcBef>
              <a:buClrTx/>
              <a:buFont typeface="Times New Roman"/>
              <a:buChar char="–"/>
              <a:defRPr sz="18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94508" indent="-285750" algn="l" defTabSz="914400" rtl="0">
              <a:spcBef>
                <a:spcPts val="0"/>
              </a:spcBef>
              <a:buClrTx/>
              <a:buFont typeface="Times New Roman"/>
              <a:buChar char="»"/>
              <a:defRPr sz="16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1600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COMMIT: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guarda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permanentemente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todos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los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cambios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realizados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desde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el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BEGIN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. Una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vez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ejecutado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, no hay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vuelta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atrás.</a:t>
            </a:r>
          </a:p>
          <a:p>
            <a:pPr>
              <a:defRPr/>
            </a:pPr>
            <a:endParaRPr sz="1600" dirty="0">
              <a:solidFill>
                <a:srgbClr val="0A1429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600" u="sng" dirty="0" err="1">
                <a:solidFill>
                  <a:schemeClr val="hlink"/>
                </a:solidFill>
                <a:hlinkClick r:id="rId3"/>
              </a:rPr>
              <a:t>Transacciones</a:t>
            </a:r>
            <a:r>
              <a:rPr sz="1600" u="sng" dirty="0">
                <a:solidFill>
                  <a:schemeClr val="hlink"/>
                </a:solidFill>
                <a:hlinkClick r:id="rId3"/>
              </a:rPr>
              <a:t>: BEGIN, COMMIT y ROLLBACK | </a:t>
            </a:r>
            <a:r>
              <a:rPr sz="1600" u="sng" dirty="0" err="1">
                <a:solidFill>
                  <a:schemeClr val="hlink"/>
                </a:solidFill>
                <a:hlinkClick r:id="rId3"/>
              </a:rPr>
              <a:t>Aprende</a:t>
            </a:r>
            <a:r>
              <a:rPr sz="1600" u="sng" dirty="0">
                <a:solidFill>
                  <a:schemeClr val="hlink"/>
                </a:solidFill>
                <a:hlinkClick r:id="rId3"/>
              </a:rPr>
              <a:t> SQL</a:t>
            </a:r>
            <a:endParaRPr sz="1600" dirty="0">
              <a:solidFill>
                <a:srgbClr val="0A1429"/>
              </a:solidFill>
              <a:latin typeface="Times New Roman"/>
              <a:cs typeface="Times New Roman"/>
            </a:endParaRPr>
          </a:p>
        </p:txBody>
      </p:sp>
      <p:pic>
        <p:nvPicPr>
          <p:cNvPr id="974925555" name="Imagen 97492555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276475" y="1212528"/>
            <a:ext cx="7639049" cy="2592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863117" name="Title 10"/>
          <p:cNvSpPr>
            <a:spLocks noGrp="1"/>
          </p:cNvSpPr>
          <p:nvPr>
            <p:ph type="title"/>
          </p:nvPr>
        </p:nvSpPr>
        <p:spPr bwMode="auto">
          <a:xfrm>
            <a:off x="1498875" y="190502"/>
            <a:ext cx="9603275" cy="1049235"/>
          </a:xfrm>
        </p:spPr>
        <p:txBody>
          <a:bodyPr anchor="ctr">
            <a:normAutofit fontScale="90000"/>
          </a:bodyPr>
          <a:lstStyle/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Times New Roman"/>
                <a:ea typeface="Arial"/>
                <a:cs typeface="Arial"/>
              </a:rPr>
              <a:t>IMPLEMENTACION DE TRANSACCIONES  </a:t>
            </a:r>
            <a:endParaRPr sz="3000" dirty="0">
              <a:solidFill>
                <a:srgbClr val="0A1429"/>
              </a:solidFill>
            </a:endParaRPr>
          </a:p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Times New Roman"/>
                <a:ea typeface="Arial"/>
                <a:cs typeface="Arial"/>
              </a:rPr>
              <a:t>ASI SE VERIA EN JAVA</a:t>
            </a:r>
            <a:r>
              <a:rPr lang="es-CO" sz="4400" i="0" u="none" strike="noStrike" cap="none" spc="0" dirty="0">
                <a:solidFill>
                  <a:srgbClr val="0A1429"/>
                </a:solidFill>
                <a:latin typeface="Times New Roman"/>
                <a:ea typeface="Arial"/>
                <a:cs typeface="Arial"/>
              </a:rPr>
              <a:t> </a:t>
            </a:r>
            <a:endParaRPr sz="3000" dirty="0"/>
          </a:p>
        </p:txBody>
      </p:sp>
      <p:pic>
        <p:nvPicPr>
          <p:cNvPr id="354102561" name="Imagen 35410256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5499" y="1879554"/>
            <a:ext cx="5806749" cy="4787944"/>
          </a:xfrm>
          <a:prstGeom prst="rect">
            <a:avLst/>
          </a:prstGeom>
        </p:spPr>
      </p:pic>
      <p:pic>
        <p:nvPicPr>
          <p:cNvPr id="1143852380" name="Imagen 114385237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81812" y="1879554"/>
            <a:ext cx="4872037" cy="3771900"/>
          </a:xfrm>
          <a:prstGeom prst="rect">
            <a:avLst/>
          </a:prstGeom>
        </p:spPr>
      </p:pic>
      <p:sp>
        <p:nvSpPr>
          <p:cNvPr id="1970291953" name="CuadroTexto 1970291952"/>
          <p:cNvSpPr txBox="1"/>
          <p:nvPr/>
        </p:nvSpPr>
        <p:spPr bwMode="auto">
          <a:xfrm>
            <a:off x="296151" y="1260191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755922074" name="CuadroTexto 755922073"/>
          <p:cNvSpPr txBox="1"/>
          <p:nvPr/>
        </p:nvSpPr>
        <p:spPr bwMode="auto">
          <a:xfrm>
            <a:off x="6881812" y="1239737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 dirty="0">
                <a:solidFill>
                  <a:srgbClr val="0A1429"/>
                </a:solidFill>
              </a:rPr>
              <a:t>2.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948844" name="Imagen 1769488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6748" y="1057303"/>
            <a:ext cx="5126032" cy="3168819"/>
          </a:xfrm>
          <a:prstGeom prst="rect">
            <a:avLst/>
          </a:prstGeom>
        </p:spPr>
      </p:pic>
      <p:pic>
        <p:nvPicPr>
          <p:cNvPr id="1393813510" name="Imagen 139381350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48374" y="763644"/>
            <a:ext cx="5687402" cy="3577034"/>
          </a:xfrm>
          <a:prstGeom prst="rect">
            <a:avLst/>
          </a:prstGeom>
        </p:spPr>
      </p:pic>
      <p:pic>
        <p:nvPicPr>
          <p:cNvPr id="858998009" name="Imagen 85899800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244096" y="4519782"/>
            <a:ext cx="5139208" cy="1989080"/>
          </a:xfrm>
          <a:prstGeom prst="rect">
            <a:avLst/>
          </a:prstGeom>
        </p:spPr>
      </p:pic>
      <p:sp>
        <p:nvSpPr>
          <p:cNvPr id="1207114613" name="CuadroTexto 1207114612"/>
          <p:cNvSpPr txBox="1"/>
          <p:nvPr/>
        </p:nvSpPr>
        <p:spPr bwMode="auto">
          <a:xfrm>
            <a:off x="312320" y="489144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1771673942" name="CuadroTexto 1771673941"/>
          <p:cNvSpPr txBox="1"/>
          <p:nvPr/>
        </p:nvSpPr>
        <p:spPr bwMode="auto">
          <a:xfrm>
            <a:off x="5579026" y="430156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904521074" name="CuadroTexto 904521073"/>
          <p:cNvSpPr txBox="1"/>
          <p:nvPr/>
        </p:nvSpPr>
        <p:spPr bwMode="auto">
          <a:xfrm>
            <a:off x="2625534" y="4471477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3220635" name="Imagen 26322063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53723" y="1892006"/>
            <a:ext cx="6537344" cy="2381249"/>
          </a:xfrm>
          <a:prstGeom prst="rect">
            <a:avLst/>
          </a:prstGeom>
        </p:spPr>
      </p:pic>
      <p:pic>
        <p:nvPicPr>
          <p:cNvPr id="963279532" name="Imagen 96327953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5859" y="1632857"/>
            <a:ext cx="5003252" cy="4517571"/>
          </a:xfrm>
          <a:prstGeom prst="rect">
            <a:avLst/>
          </a:prstGeom>
        </p:spPr>
      </p:pic>
      <p:sp>
        <p:nvSpPr>
          <p:cNvPr id="1510442885" name="CuadroTexto 1510442884"/>
          <p:cNvSpPr txBox="1"/>
          <p:nvPr/>
        </p:nvSpPr>
        <p:spPr bwMode="auto">
          <a:xfrm>
            <a:off x="5861326" y="783941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3.</a:t>
            </a:r>
            <a:endParaRPr/>
          </a:p>
        </p:txBody>
      </p:sp>
      <p:sp>
        <p:nvSpPr>
          <p:cNvPr id="1201864328" name="CuadroTexto 1201864327"/>
          <p:cNvSpPr txBox="1"/>
          <p:nvPr/>
        </p:nvSpPr>
        <p:spPr bwMode="auto">
          <a:xfrm>
            <a:off x="366748" y="783941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165039" name="Marcador de texto 2"/>
          <p:cNvSpPr>
            <a:spLocks noGrp="1"/>
          </p:cNvSpPr>
          <p:nvPr>
            <p:ph idx="1"/>
          </p:nvPr>
        </p:nvSpPr>
        <p:spPr bwMode="auto">
          <a:xfrm>
            <a:off x="163175" y="1289620"/>
            <a:ext cx="5478402" cy="23537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es-CO" sz="1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Aqui</a:t>
            </a:r>
            <a:r>
              <a:rPr lang="es-CO" sz="1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es donde se implementa las transacciones  mencionadas en el texto de arriba</a:t>
            </a:r>
            <a:endParaRPr sz="14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s-CO"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s-CO" sz="1400" b="1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BEGIN</a:t>
            </a:r>
            <a:r>
              <a:rPr lang="es-CO"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abre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transacción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Todas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las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operaciones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escribas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s-CO"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después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quedan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 ESPERA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hasta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las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confirmes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con </a:t>
            </a:r>
            <a:r>
              <a:rPr lang="es-CO" sz="1400" b="1" dirty="0">
                <a:solidFill>
                  <a:schemeClr val="tx1"/>
                </a:solidFill>
                <a:latin typeface="Times New Roman"/>
                <a:cs typeface="Times New Roman"/>
              </a:rPr>
              <a:t>COMMIT</a:t>
            </a: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Como lo pueden ver se va ejecutando y ala vez se da indicaciones para añadir </a:t>
            </a:r>
            <a:r>
              <a:rPr lang="es-CO" sz="1400" dirty="0" err="1">
                <a:solidFill>
                  <a:schemeClr val="tx1"/>
                </a:solidFill>
                <a:latin typeface="Times New Roman"/>
                <a:cs typeface="Times New Roman"/>
              </a:rPr>
              <a:t>informacion</a:t>
            </a: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 de las 2 tablas creadas  y  se verifica que si se allá añadido la </a:t>
            </a:r>
            <a:r>
              <a:rPr lang="es-CO" sz="1400" dirty="0" err="1">
                <a:solidFill>
                  <a:schemeClr val="tx1"/>
                </a:solidFill>
                <a:latin typeface="Times New Roman"/>
                <a:cs typeface="Times New Roman"/>
              </a:rPr>
              <a:t>informacion</a:t>
            </a: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 ala 3 tabla creada anteriormente.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97540472" name="Título 1"/>
          <p:cNvSpPr>
            <a:spLocks noGrp="1"/>
          </p:cNvSpPr>
          <p:nvPr/>
        </p:nvSpPr>
        <p:spPr bwMode="auto">
          <a:xfrm>
            <a:off x="1631407" y="139390"/>
            <a:ext cx="8241058" cy="94586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5000" lnSpcReduction="1000"/>
          </a:bodyPr>
          <a:lstStyle>
            <a:lvl1pPr algn="l" defTabSz="914400" rtl="0">
              <a:spcBef>
                <a:spcPts val="0"/>
              </a:spcBef>
              <a:buNone/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IMPLEMENTACION DE TRANSACCIONES  </a:t>
            </a:r>
          </a:p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ASI SEVERIA EN UNA BASE DE DATOS </a:t>
            </a:r>
            <a:endParaRPr sz="3000" dirty="0">
              <a:solidFill>
                <a:srgbClr val="0A1429"/>
              </a:solidFill>
            </a:endParaRPr>
          </a:p>
        </p:txBody>
      </p:sp>
      <p:pic>
        <p:nvPicPr>
          <p:cNvPr id="1556267746" name="Imagen 155626774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8893" y="3429000"/>
            <a:ext cx="4627420" cy="3232707"/>
          </a:xfrm>
          <a:prstGeom prst="rect">
            <a:avLst/>
          </a:prstGeom>
        </p:spPr>
      </p:pic>
      <p:pic>
        <p:nvPicPr>
          <p:cNvPr id="1207357499" name="Imagen 120735749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342465" y="1405693"/>
            <a:ext cx="5430642" cy="47958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76367" name="Title 10"/>
          <p:cNvSpPr>
            <a:spLocks noGrp="1"/>
          </p:cNvSpPr>
          <p:nvPr>
            <p:ph type="title"/>
          </p:nvPr>
        </p:nvSpPr>
        <p:spPr bwMode="auto">
          <a:xfrm>
            <a:off x="1398624" y="100755"/>
            <a:ext cx="8889999" cy="666161"/>
          </a:xfrm>
        </p:spPr>
        <p:txBody>
          <a:bodyPr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 CONEXIÓN DE BASE DE DATOS CON JAVA </a:t>
            </a:r>
            <a:endParaRPr sz="3000" dirty="0">
              <a:solidFill>
                <a:srgbClr val="0A1429"/>
              </a:solidFill>
            </a:endParaRPr>
          </a:p>
        </p:txBody>
      </p:sp>
      <p:pic>
        <p:nvPicPr>
          <p:cNvPr id="739228087" name="Imagen 73922808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0174" y="1234380"/>
            <a:ext cx="6507199" cy="1971675"/>
          </a:xfrm>
          <a:prstGeom prst="rect">
            <a:avLst/>
          </a:prstGeom>
        </p:spPr>
      </p:pic>
      <p:pic>
        <p:nvPicPr>
          <p:cNvPr id="1115822551" name="Imagen 111582255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29249" y="2623566"/>
            <a:ext cx="6715125" cy="3948683"/>
          </a:xfrm>
          <a:prstGeom prst="rect">
            <a:avLst/>
          </a:prstGeom>
        </p:spPr>
      </p:pic>
      <p:sp>
        <p:nvSpPr>
          <p:cNvPr id="1317213921" name="Content Placeholder 2"/>
          <p:cNvSpPr>
            <a:spLocks noGrp="1"/>
          </p:cNvSpPr>
          <p:nvPr/>
        </p:nvSpPr>
        <p:spPr bwMode="auto">
          <a:xfrm>
            <a:off x="334999" y="3784462"/>
            <a:ext cx="4429124" cy="20892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>
            <a:lvl1pPr marL="342900" indent="-342900" algn="l" defTabSz="914400" rtl="0">
              <a:spcBef>
                <a:spcPts val="0"/>
              </a:spcBef>
              <a:buClrTx/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54378" indent="-342900" algn="l" defTabSz="914400" rtl="0">
              <a:spcBef>
                <a:spcPts val="0"/>
              </a:spcBef>
              <a:buClrTx/>
              <a:buFont typeface="Times New Roman"/>
              <a:buChar char="–"/>
              <a:defRPr sz="2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20140" indent="-342900" algn="l" defTabSz="914400" rtl="0">
              <a:spcBef>
                <a:spcPts val="0"/>
              </a:spcBef>
              <a:buClrTx/>
              <a:buFont typeface="Arial"/>
              <a:buChar char="•"/>
              <a:defRPr sz="20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74470" indent="-285750" algn="l" defTabSz="914400" rtl="0">
              <a:spcBef>
                <a:spcPts val="0"/>
              </a:spcBef>
              <a:buClrTx/>
              <a:buFont typeface="Times New Roman"/>
              <a:buChar char="–"/>
              <a:defRPr sz="18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94508" indent="-285750" algn="l" defTabSz="914400" rtl="0">
              <a:spcBef>
                <a:spcPts val="0"/>
              </a:spcBef>
              <a:buClrTx/>
              <a:buFont typeface="Times New Roman"/>
              <a:buChar char="»"/>
              <a:defRPr sz="16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Aqui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es donde se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reprecenta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 conexión de base de datos con el programa de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Netbeans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y con sus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libreria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incluida</a:t>
            </a: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ya que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Netbeans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no tiene la esa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libreria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entonces MYSQL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Workbench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nos da el link para instalarla</a:t>
            </a:r>
            <a:r>
              <a:rPr lang="es-CO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dirty="0"/>
          </a:p>
          <a:p>
            <a:pPr>
              <a:defRPr/>
            </a:pPr>
            <a:endParaRPr lang="es-CO" sz="13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u="sng" dirty="0">
                <a:solidFill>
                  <a:schemeClr val="hlink"/>
                </a:solidFill>
                <a:hlinkClick r:id="rId5"/>
              </a:rPr>
              <a:t>MySQL :: </a:t>
            </a:r>
            <a:r>
              <a:rPr sz="1600" u="sng" dirty="0" err="1">
                <a:solidFill>
                  <a:schemeClr val="hlink"/>
                </a:solidFill>
                <a:hlinkClick r:id="rId5"/>
              </a:rPr>
              <a:t>Descargar</a:t>
            </a:r>
            <a:r>
              <a:rPr sz="1600" u="sng" dirty="0">
                <a:solidFill>
                  <a:schemeClr val="hlink"/>
                </a:solidFill>
                <a:hlinkClick r:id="rId5"/>
              </a:rPr>
              <a:t> Connector/J</a:t>
            </a: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3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1508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3249" y="3921124"/>
            <a:ext cx="6064249" cy="167563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61850" indent="-261850" algn="just">
              <a:buClrTx/>
              <a:buFont typeface="Arial"/>
              <a:buChar char="•"/>
              <a:defRPr/>
            </a:pP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donde se crean las carpetas y las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subclaces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1850" indent="-261850" algn="just">
              <a:buClrTx/>
              <a:buFont typeface="Arial"/>
              <a:buChar char="•"/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 que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va a insertar el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codigo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a la vez darle la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ejecucución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y en las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subclaces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no nos sirvan se eliminan, pero antes se verifica que no haga estragos antes de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eliminaarlos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7370768" name="Imagen 40737076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960" y="1389533"/>
            <a:ext cx="6657975" cy="2087090"/>
          </a:xfrm>
          <a:prstGeom prst="rect">
            <a:avLst/>
          </a:prstGeom>
        </p:spPr>
      </p:pic>
      <p:pic>
        <p:nvPicPr>
          <p:cNvPr id="379404372" name="Imagen 379404371"/>
          <p:cNvPicPr>
            <a:picLocks noChangeAspect="1"/>
          </p:cNvPicPr>
          <p:nvPr/>
        </p:nvPicPr>
        <p:blipFill rotWithShape="1">
          <a:blip r:embed="rId4"/>
          <a:srcRect r="80034" b="48332"/>
          <a:stretch/>
        </p:blipFill>
        <p:spPr bwMode="auto">
          <a:xfrm>
            <a:off x="7189787" y="1389533"/>
            <a:ext cx="3781462" cy="5213842"/>
          </a:xfrm>
          <a:prstGeom prst="rect">
            <a:avLst/>
          </a:prstGeom>
        </p:spPr>
      </p:pic>
      <p:sp>
        <p:nvSpPr>
          <p:cNvPr id="892705069" name="CuadroTexto 892705068"/>
          <p:cNvSpPr txBox="1"/>
          <p:nvPr/>
        </p:nvSpPr>
        <p:spPr bwMode="auto">
          <a:xfrm>
            <a:off x="1152202" y="66199"/>
            <a:ext cx="1043455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CREACION DE LAS CARPETAS Y LAS SUBCLASES NECESARIAS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086754" name="Title 10"/>
          <p:cNvSpPr>
            <a:spLocks noGrp="1"/>
          </p:cNvSpPr>
          <p:nvPr>
            <p:ph type="title"/>
          </p:nvPr>
        </p:nvSpPr>
        <p:spPr bwMode="auto">
          <a:xfrm>
            <a:off x="2320766" y="290567"/>
            <a:ext cx="7550466" cy="812102"/>
          </a:xfrm>
        </p:spPr>
        <p:txBody>
          <a:bodyPr anchor="ctr"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DEL CODIGO 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82280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20766" y="1255626"/>
            <a:ext cx="8408583" cy="458316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s-CO" sz="16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 se va a mostrar el código  ya que lo intente hacerlo lo mas entendible posible  </a:t>
            </a:r>
            <a:endParaRPr sz="16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4623001" name="Imagen 144462300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3496" y="1866899"/>
            <a:ext cx="5455303" cy="4648199"/>
          </a:xfrm>
          <a:prstGeom prst="rect">
            <a:avLst/>
          </a:prstGeom>
        </p:spPr>
      </p:pic>
      <p:pic>
        <p:nvPicPr>
          <p:cNvPr id="1876560757" name="Imagen 18765607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88828" y="1866899"/>
            <a:ext cx="5588821" cy="4648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4604766" name="Imagen 116460476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0212" y="707571"/>
            <a:ext cx="5098086" cy="5693228"/>
          </a:xfrm>
          <a:prstGeom prst="rect">
            <a:avLst/>
          </a:prstGeom>
        </p:spPr>
      </p:pic>
      <p:pic>
        <p:nvPicPr>
          <p:cNvPr id="2028789074" name="Imagen 202878907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9" y="693710"/>
            <a:ext cx="5114925" cy="5554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7042659" name="Imagen 85704265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3357" y="568433"/>
            <a:ext cx="5229342" cy="5745280"/>
          </a:xfrm>
          <a:prstGeom prst="rect">
            <a:avLst/>
          </a:prstGeom>
        </p:spPr>
      </p:pic>
      <p:pic>
        <p:nvPicPr>
          <p:cNvPr id="1800587857" name="Imagen 18005878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39178" y="496126"/>
            <a:ext cx="5236273" cy="5817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9433597" name="Imagen 28943359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2412" y="677635"/>
            <a:ext cx="5272087" cy="5657850"/>
          </a:xfrm>
          <a:prstGeom prst="rect">
            <a:avLst/>
          </a:prstGeom>
        </p:spPr>
      </p:pic>
      <p:pic>
        <p:nvPicPr>
          <p:cNvPr id="727231754" name="Imagen 72723175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76257" y="677635"/>
            <a:ext cx="5610224" cy="565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6348652" name="Imagen 133634865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08201" y="628649"/>
            <a:ext cx="8383547" cy="560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103169" name="Title 10"/>
          <p:cNvSpPr>
            <a:spLocks noGrp="1"/>
          </p:cNvSpPr>
          <p:nvPr/>
        </p:nvSpPr>
        <p:spPr bwMode="auto">
          <a:xfrm>
            <a:off x="1987392" y="137038"/>
            <a:ext cx="8217216" cy="87555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9825474" name="CuadroTexto 1089825473"/>
          <p:cNvSpPr txBox="1"/>
          <p:nvPr/>
        </p:nvSpPr>
        <p:spPr bwMode="auto">
          <a:xfrm>
            <a:off x="176249" y="1091505"/>
            <a:ext cx="6486719" cy="16403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Después de haber terminado el código  se hace la ejecución del código para ver si el código digitado funciona,  o tiene algún problema sino tiene ningún problema en la conexión de base de datos  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ejecuta.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va pedir que procedimiento se va elegir para que se refleje la conexión de base de datos  la modificación en ella 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2643936" name="Imagen 1142643935"/>
          <p:cNvPicPr>
            <a:picLocks noChangeAspect="1"/>
          </p:cNvPicPr>
          <p:nvPr/>
        </p:nvPicPr>
        <p:blipFill rotWithShape="1">
          <a:blip r:embed="rId3"/>
          <a:srcRect t="10644"/>
          <a:stretch/>
        </p:blipFill>
        <p:spPr bwMode="auto">
          <a:xfrm>
            <a:off x="6891374" y="1091505"/>
            <a:ext cx="4683123" cy="5333999"/>
          </a:xfrm>
          <a:prstGeom prst="rect">
            <a:avLst/>
          </a:prstGeom>
        </p:spPr>
      </p:pic>
      <p:pic>
        <p:nvPicPr>
          <p:cNvPr id="1243599143" name="Imagen 1243599142"/>
          <p:cNvPicPr>
            <a:picLocks noChangeAspect="1"/>
          </p:cNvPicPr>
          <p:nvPr/>
        </p:nvPicPr>
        <p:blipFill rotWithShape="1">
          <a:blip r:embed="rId4"/>
          <a:srcRect t="30471"/>
          <a:stretch/>
        </p:blipFill>
        <p:spPr bwMode="auto">
          <a:xfrm>
            <a:off x="464782" y="3047999"/>
            <a:ext cx="5696341" cy="3594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15492" name="Imagen 401215491"/>
          <p:cNvPicPr>
            <a:picLocks noChangeAspect="1"/>
          </p:cNvPicPr>
          <p:nvPr/>
        </p:nvPicPr>
        <p:blipFill rotWithShape="1">
          <a:blip r:embed="rId3"/>
          <a:srcRect t="12662"/>
          <a:stretch/>
        </p:blipFill>
        <p:spPr bwMode="auto">
          <a:xfrm>
            <a:off x="280786" y="1481304"/>
            <a:ext cx="3765708" cy="5016499"/>
          </a:xfrm>
          <a:prstGeom prst="rect">
            <a:avLst/>
          </a:prstGeom>
        </p:spPr>
      </p:pic>
      <p:pic>
        <p:nvPicPr>
          <p:cNvPr id="2143329664" name="Imagen 214332966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92749" y="2647255"/>
            <a:ext cx="6413499" cy="3914048"/>
          </a:xfrm>
          <a:prstGeom prst="rect">
            <a:avLst/>
          </a:prstGeom>
        </p:spPr>
      </p:pic>
      <p:sp>
        <p:nvSpPr>
          <p:cNvPr id="929964261" name="Title 10"/>
          <p:cNvSpPr>
            <a:spLocks noGrp="1"/>
          </p:cNvSpPr>
          <p:nvPr/>
        </p:nvSpPr>
        <p:spPr bwMode="auto">
          <a:xfrm>
            <a:off x="2052515" y="37255"/>
            <a:ext cx="8217216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SEGUNDA 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276070" name="CuadroTexto 132276069"/>
          <p:cNvSpPr txBox="1"/>
          <p:nvPr/>
        </p:nvSpPr>
        <p:spPr bwMode="auto">
          <a:xfrm>
            <a:off x="4494249" y="1201059"/>
            <a:ext cx="6716064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Font typeface="Arial"/>
              <a:buChar char="•"/>
              <a:defRPr/>
            </a:pPr>
            <a:r>
              <a:rPr lang="es-CO" sz="1600" dirty="0"/>
              <a:t>Aquí esta ejecutando la opción  2 :</a:t>
            </a:r>
            <a:endParaRPr sz="1600" dirty="0"/>
          </a:p>
          <a:p>
            <a:pPr marL="283879" indent="-283879">
              <a:buFont typeface="Arial"/>
              <a:buChar char="•"/>
              <a:defRPr/>
            </a:pPr>
            <a:r>
              <a:rPr lang="es-CO" sz="1600" dirty="0"/>
              <a:t>Que es la que es vender el producto aun cliente, y pedirle sus datos </a:t>
            </a:r>
            <a:endParaRPr sz="1600" dirty="0"/>
          </a:p>
          <a:p>
            <a:pPr marL="283879" indent="-283879">
              <a:buFont typeface="Arial"/>
              <a:buChar char="•"/>
              <a:defRPr/>
            </a:pPr>
            <a:endParaRPr sz="1600" dirty="0"/>
          </a:p>
          <a:p>
            <a:pPr marL="283879" indent="-283879">
              <a:buFont typeface="Arial"/>
              <a:buChar char="•"/>
              <a:defRPr/>
            </a:pPr>
            <a:r>
              <a:rPr lang="es-CO" sz="1600" dirty="0"/>
              <a:t>La segunda parte es cuando se verifica que se haya añadido la modificación en la base de datos.</a:t>
            </a:r>
            <a:endParaRPr dirty="0"/>
          </a:p>
        </p:txBody>
      </p:sp>
      <p:sp>
        <p:nvSpPr>
          <p:cNvPr id="443618468" name="CuadroTexto 443618467"/>
          <p:cNvSpPr txBox="1"/>
          <p:nvPr/>
        </p:nvSpPr>
        <p:spPr bwMode="auto">
          <a:xfrm>
            <a:off x="366749" y="817005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808058429" name="CuadroTexto 808058428"/>
          <p:cNvSpPr txBox="1"/>
          <p:nvPr/>
        </p:nvSpPr>
        <p:spPr bwMode="auto">
          <a:xfrm>
            <a:off x="4494249" y="2795029"/>
            <a:ext cx="65447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803" name="Imagen 1324098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5812" y="2016123"/>
            <a:ext cx="5814490" cy="2162174"/>
          </a:xfrm>
          <a:prstGeom prst="rect">
            <a:avLst/>
          </a:prstGeom>
        </p:spPr>
      </p:pic>
      <p:pic>
        <p:nvPicPr>
          <p:cNvPr id="215726818" name="Imagen 21572681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94847" y="4382254"/>
            <a:ext cx="6362699" cy="1873249"/>
          </a:xfrm>
          <a:prstGeom prst="rect">
            <a:avLst/>
          </a:prstGeom>
        </p:spPr>
      </p:pic>
      <p:pic>
        <p:nvPicPr>
          <p:cNvPr id="443573589" name="Imagen 44357358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99597" y="614361"/>
            <a:ext cx="4343733" cy="1401761"/>
          </a:xfrm>
          <a:prstGeom prst="rect">
            <a:avLst/>
          </a:prstGeom>
        </p:spPr>
      </p:pic>
      <p:sp>
        <p:nvSpPr>
          <p:cNvPr id="1883322882" name="CuadroTexto 1883322881"/>
          <p:cNvSpPr txBox="1"/>
          <p:nvPr/>
        </p:nvSpPr>
        <p:spPr bwMode="auto">
          <a:xfrm>
            <a:off x="366748" y="817004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3.</a:t>
            </a:r>
            <a:endParaRPr/>
          </a:p>
        </p:txBody>
      </p:sp>
      <p:sp>
        <p:nvSpPr>
          <p:cNvPr id="1814269948" name="CuadroTexto 1814269947"/>
          <p:cNvSpPr txBox="1"/>
          <p:nvPr/>
        </p:nvSpPr>
        <p:spPr bwMode="auto">
          <a:xfrm>
            <a:off x="5055921" y="2334654"/>
            <a:ext cx="521428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4.</a:t>
            </a:r>
            <a:endParaRPr/>
          </a:p>
        </p:txBody>
      </p:sp>
      <p:sp>
        <p:nvSpPr>
          <p:cNvPr id="1154414935" name="CuadroTexto 1154414934"/>
          <p:cNvSpPr txBox="1"/>
          <p:nvPr/>
        </p:nvSpPr>
        <p:spPr bwMode="auto">
          <a:xfrm>
            <a:off x="366748" y="3833254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5. </a:t>
            </a:r>
            <a:endParaRPr sz="3000" b="1">
              <a:solidFill>
                <a:srgbClr val="0A142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859812" name="Imagen 19348598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1014" y="1491165"/>
            <a:ext cx="4289443" cy="5154612"/>
          </a:xfrm>
          <a:prstGeom prst="rect">
            <a:avLst/>
          </a:prstGeom>
        </p:spPr>
      </p:pic>
      <p:pic>
        <p:nvPicPr>
          <p:cNvPr id="321304685" name="Imagen 32130468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77714" y="1491165"/>
            <a:ext cx="3796392" cy="5154612"/>
          </a:xfrm>
          <a:prstGeom prst="rect">
            <a:avLst/>
          </a:prstGeom>
        </p:spPr>
      </p:pic>
      <p:sp>
        <p:nvSpPr>
          <p:cNvPr id="440722675" name="Title 10"/>
          <p:cNvSpPr>
            <a:spLocks noGrp="1"/>
          </p:cNvSpPr>
          <p:nvPr/>
        </p:nvSpPr>
        <p:spPr bwMode="auto">
          <a:xfrm>
            <a:off x="241014" y="164255"/>
            <a:ext cx="6253484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TERCERA 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9041152" name="CuadroTexto 1209041151"/>
          <p:cNvSpPr txBox="1"/>
          <p:nvPr/>
        </p:nvSpPr>
        <p:spPr bwMode="auto">
          <a:xfrm>
            <a:off x="6877535" y="165875"/>
            <a:ext cx="4527019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marL="283878" indent="-283878" algn="just">
              <a:buFont typeface="Arial"/>
              <a:buChar char="•"/>
              <a:defRPr/>
            </a:pPr>
            <a:r>
              <a:rPr lang="es-CO" sz="16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esta ejecutando la </a:t>
            </a:r>
            <a:r>
              <a:rPr lang="es-CO" sz="16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opcion</a:t>
            </a: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6 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 algn="just">
              <a:buFont typeface="Arial"/>
              <a:buChar char="•"/>
              <a:defRPr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 algn="just">
              <a:buFont typeface="Arial"/>
              <a:buChar char="•"/>
              <a:defRPr/>
            </a:pP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es la que manda todo el </a:t>
            </a:r>
            <a:r>
              <a:rPr lang="es-CO" sz="16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inverntario</a:t>
            </a: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 sus cambios incluidos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6870267" name="Imagen 94687026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743889" y="1491165"/>
            <a:ext cx="3163984" cy="5154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9644114" name="Imagen 93964411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847" y="1836964"/>
            <a:ext cx="3018778" cy="4299856"/>
          </a:xfrm>
          <a:prstGeom prst="rect">
            <a:avLst/>
          </a:prstGeom>
        </p:spPr>
      </p:pic>
      <p:pic>
        <p:nvPicPr>
          <p:cNvPr id="1932010119" name="Imagen 193201011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37831" y="1836964"/>
            <a:ext cx="3134243" cy="4340678"/>
          </a:xfrm>
          <a:prstGeom prst="rect">
            <a:avLst/>
          </a:prstGeom>
        </p:spPr>
      </p:pic>
      <p:pic>
        <p:nvPicPr>
          <p:cNvPr id="765916913" name="Imagen 765916912"/>
          <p:cNvPicPr>
            <a:picLocks noChangeAspect="1"/>
          </p:cNvPicPr>
          <p:nvPr/>
        </p:nvPicPr>
        <p:blipFill rotWithShape="1">
          <a:blip r:embed="rId5"/>
          <a:srcRect t="30471"/>
          <a:stretch/>
        </p:blipFill>
        <p:spPr bwMode="auto">
          <a:xfrm>
            <a:off x="6676182" y="1237330"/>
            <a:ext cx="5108995" cy="3223475"/>
          </a:xfrm>
          <a:prstGeom prst="rect">
            <a:avLst/>
          </a:prstGeom>
        </p:spPr>
      </p:pic>
      <p:sp>
        <p:nvSpPr>
          <p:cNvPr id="353605825" name="Title 10"/>
          <p:cNvSpPr>
            <a:spLocks noGrp="1"/>
          </p:cNvSpPr>
          <p:nvPr/>
        </p:nvSpPr>
        <p:spPr bwMode="auto">
          <a:xfrm>
            <a:off x="763392" y="368362"/>
            <a:ext cx="9837964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TERCERA 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0075086" name="Imagen 820075085"/>
          <p:cNvPicPr>
            <a:picLocks noChangeAspect="1"/>
          </p:cNvPicPr>
          <p:nvPr/>
        </p:nvPicPr>
        <p:blipFill rotWithShape="1">
          <a:blip r:embed="rId3"/>
          <a:srcRect t="54830"/>
          <a:stretch/>
        </p:blipFill>
        <p:spPr bwMode="auto">
          <a:xfrm>
            <a:off x="3296361" y="3429000"/>
            <a:ext cx="4772025" cy="1187449"/>
          </a:xfrm>
          <a:prstGeom prst="rect">
            <a:avLst/>
          </a:prstGeom>
        </p:spPr>
      </p:pic>
      <p:pic>
        <p:nvPicPr>
          <p:cNvPr id="1550766505" name="Imagen 1550766504"/>
          <p:cNvPicPr>
            <a:picLocks noChangeAspect="1"/>
          </p:cNvPicPr>
          <p:nvPr/>
        </p:nvPicPr>
        <p:blipFill rotWithShape="1">
          <a:blip r:embed="rId4"/>
          <a:srcRect t="52425"/>
          <a:stretch/>
        </p:blipFill>
        <p:spPr bwMode="auto">
          <a:xfrm>
            <a:off x="2767723" y="1864178"/>
            <a:ext cx="5829300" cy="1468210"/>
          </a:xfrm>
          <a:prstGeom prst="rect">
            <a:avLst/>
          </a:prstGeom>
        </p:spPr>
      </p:pic>
      <p:pic>
        <p:nvPicPr>
          <p:cNvPr id="1089857942" name="Imagen 1089857941"/>
          <p:cNvPicPr>
            <a:picLocks noChangeAspect="1"/>
          </p:cNvPicPr>
          <p:nvPr/>
        </p:nvPicPr>
        <p:blipFill rotWithShape="1">
          <a:blip r:embed="rId5"/>
          <a:srcRect t="51273"/>
          <a:stretch/>
        </p:blipFill>
        <p:spPr bwMode="auto">
          <a:xfrm>
            <a:off x="2863751" y="4803321"/>
            <a:ext cx="5733272" cy="1510392"/>
          </a:xfrm>
          <a:prstGeom prst="rect">
            <a:avLst/>
          </a:prstGeom>
        </p:spPr>
      </p:pic>
      <p:sp>
        <p:nvSpPr>
          <p:cNvPr id="291800778" name="Title 10"/>
          <p:cNvSpPr>
            <a:spLocks noGrp="1"/>
          </p:cNvSpPr>
          <p:nvPr/>
        </p:nvSpPr>
        <p:spPr bwMode="auto">
          <a:xfrm>
            <a:off x="763391" y="368361"/>
            <a:ext cx="9837963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VALIDACION EN LA BASE DE DATOS DE LAS MODIFICACIONES DEL PROGRAMA DE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974129" name="Imagen 14197412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50193" y="1999116"/>
            <a:ext cx="7376199" cy="3988026"/>
          </a:xfrm>
          <a:prstGeom prst="rect">
            <a:avLst/>
          </a:prstGeom>
        </p:spPr>
      </p:pic>
      <p:sp>
        <p:nvSpPr>
          <p:cNvPr id="948125292" name="Title 10"/>
          <p:cNvSpPr>
            <a:spLocks noGrp="1"/>
          </p:cNvSpPr>
          <p:nvPr/>
        </p:nvSpPr>
        <p:spPr bwMode="auto">
          <a:xfrm>
            <a:off x="763391" y="368361"/>
            <a:ext cx="9988692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CUARTA EJECUCIÓN DEL PROGRAMA JAVA FINALIZACION DEL PROGRAMA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808018" name="Title 1"/>
          <p:cNvSpPr>
            <a:spLocks noGrp="1"/>
          </p:cNvSpPr>
          <p:nvPr>
            <p:ph type="ctrTitle"/>
          </p:nvPr>
        </p:nvSpPr>
        <p:spPr bwMode="auto">
          <a:xfrm>
            <a:off x="926192" y="208126"/>
            <a:ext cx="10339616" cy="832303"/>
          </a:xfrm>
        </p:spPr>
        <p:txBody>
          <a:bodyPr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</a:t>
            </a:r>
            <a:r>
              <a:rPr lang="es-CO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80029882" name="Subtitle 2"/>
          <p:cNvSpPr>
            <a:spLocks noGrp="1"/>
          </p:cNvSpPr>
          <p:nvPr>
            <p:ph type="subTitle" idx="1"/>
          </p:nvPr>
        </p:nvSpPr>
        <p:spPr bwMode="auto">
          <a:xfrm>
            <a:off x="313806" y="1166554"/>
            <a:ext cx="11266714" cy="4762499"/>
          </a:xfrm>
        </p:spPr>
        <p:txBody>
          <a:bodyPr vertOverflow="overflow" horzOverflow="overflow" vert="horz" wrap="square" lIns="91440" tIns="45720" rIns="91440" bIns="45720" numCol="2" spcCol="0" rtlCol="0" fromWordArt="0" anchor="ctr" anchorCtr="0" forceAA="0" compatLnSpc="0">
            <a:no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438080" indent="-438080" algn="ctr">
              <a:buClrTx/>
              <a:buFont typeface="Arial"/>
              <a:buChar char="•"/>
              <a:defRPr/>
            </a:pPr>
            <a:r>
              <a:rPr lang="es-CO" sz="1200" b="1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CLASES </a:t>
            </a:r>
            <a:endParaRPr sz="1200" b="1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 de </a:t>
            </a:r>
            <a:r>
              <a:rPr lang="en-US" sz="1200" b="0" i="0" u="none" strike="noStrike" cap="none" spc="0" dirty="0" err="1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abril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https://us06web.zoom.us/rec/play/kAYvWgYbV_plujZF7b29P3LXoI6OcdaxqXFg0VSeXU-7IA3Q9UH-hThZCLDWOJWo2izOmIcw-ePlR7oc.ZS9AwFLuB_iijLvk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13 mar 2026 05:30 p. m.</a:t>
            </a:r>
            <a:endParaRPr sz="1200" b="0" i="0" u="none" strike="noStrike" cap="none" spc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https://us06web.zoom.us/rec/play/QBcBh3aiEKHXeg7zfI-SIdSfCzyu1pZycqQ3xctBzC6aEZ5F83FmDy1LgpqPdxiocASOFnRSGPAIIc64.HBExRPcxMGUPFpJy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27 mar 2026 05:27 p. m</a:t>
            </a:r>
            <a:endParaRPr sz="1200" b="0" i="0" u="none" strike="noStrike" cap="none" spc="0" dirty="0">
              <a:solidFill>
                <a:srgbClr val="0A142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.https://us06web.zoom.us/</a:t>
            </a:r>
            <a:r>
              <a:rPr lang="es-CO" sz="1200" b="0" i="0" u="none" strike="noStrike" cap="none" spc="0" dirty="0" err="1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rec</a:t>
            </a: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/</a:t>
            </a:r>
            <a:r>
              <a:rPr lang="es-CO" sz="1200" b="0" i="0" u="none" strike="noStrike" cap="none" spc="0" dirty="0" err="1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play</a:t>
            </a: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/v18CaJ2yUZozeDDfsac0GNQ4G5adXVbRj3dN4iAOF-fA73t1fvIRGUufV2shAMGeOf8uy0617gc5h7N9.7Dm5Qk_mj5NhpIpu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https://us06web.zoom.us/rec/play/c6wP1gwmVG_aKNoeuEiBIFvmGLiXlhvJxC14UO08izWaIAfsewk8pvEzKXuC5g8g4nnBtEFX79FibEF6.m60L3yaTyJXOJLQw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endParaRPr lang="es-MX"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endParaRPr lang="es-MX"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r>
              <a:rPr lang="es-CO" sz="1200" b="1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SITIOS WEB</a:t>
            </a:r>
            <a:endParaRPr sz="1200" b="1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3"/>
              </a:rPr>
              <a:t>https://youtu.be/knVwokXITGI?si=zePQ_bL8dbsbiWlP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COMO HACER UN BEGIN, COMMIT, ROLLBACK EN JAV - YouTube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Transactions </a:t>
            </a: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en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SQL Server - Rollback / Commit - YouTube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Curso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de JDBC – 8. </a:t>
            </a: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Transacciones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Curso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de JDBC – 1. ¿</a:t>
            </a: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Qué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es JDBC?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8"/>
              </a:rPr>
              <a:t>https://youtu.be/AhXDquWtuhU?si=Q7SEwiKxjS2SwLj7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9"/>
              </a:rPr>
              <a:t>https://youtu.be/mhDqL2SUXJc?si=x2PXrZ6Y_QQ3VFya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10"/>
              </a:rPr>
              <a:t>https://youtu.be/m8HjnweSMAI?si=MDvrUvbzUJYpuwOC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11"/>
              </a:rPr>
              <a:t>https://youtu.be/ppDv4N5A31E?si=cR8uRyURtHHJqgEZ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O" sz="12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r>
              <a:rPr lang="es-CO" sz="12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438080" indent="-438080">
              <a:buClrTx/>
              <a:buFont typeface="Arial"/>
              <a:buChar char="•"/>
              <a:defRPr/>
            </a:pP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">
      <a:majorFont>
        <a:latin typeface="Tw Cen MT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Circuit">
      <a:fillStyleLst>
        <a:solidFill>
          <a:schemeClr val="phClr"/>
        </a:solidFill>
        <a:gradFill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</TotalTime>
  <Words>854</Words>
  <Application>Microsoft Office PowerPoint</Application>
  <DocSecurity>0</DocSecurity>
  <PresentationFormat>Panorámica</PresentationFormat>
  <Paragraphs>110</Paragraphs>
  <Slides>24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Gill Sans MT</vt:lpstr>
      <vt:lpstr>Times New Roman</vt:lpstr>
      <vt:lpstr>Tw Cen MT</vt:lpstr>
      <vt:lpstr>Galería</vt:lpstr>
      <vt:lpstr>SOLUCIÓN DE EMPRESA DE ELECTRÓNICOS </vt:lpstr>
      <vt:lpstr>ELABORACIÓN DE EJERCICIO DE SISTEMAS TRANSACCIONALES </vt:lpstr>
      <vt:lpstr>CREACIÓN DE BAsE DE DATOS </vt:lpstr>
      <vt:lpstr>INSERTAR DATOS A LA TABLA DE PRODUCTOS </vt:lpstr>
      <vt:lpstr>IMPLEMENTACION DE TRANSACCIONES   ASI SEVERIA EN JAVA </vt:lpstr>
      <vt:lpstr>IMPLEMENTACION DE TRANSACCIONES   ASI SE VERIA EN JAVA </vt:lpstr>
      <vt:lpstr>Presentación de PowerPoint</vt:lpstr>
      <vt:lpstr>Presentación de PowerPoint</vt:lpstr>
      <vt:lpstr>Presentación de PowerPoint</vt:lpstr>
      <vt:lpstr> CONEXIÓN DE BASE DE DATOS CON JAVA </vt:lpstr>
      <vt:lpstr>Presentación de PowerPoint</vt:lpstr>
      <vt:lpstr>CREACIÓN DEL CODIGO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BIBLIOTECA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Camilo Beltran</dc:creator>
  <cp:keywords/>
  <dc:description/>
  <cp:lastModifiedBy>nelson bernal</cp:lastModifiedBy>
  <cp:revision>6</cp:revision>
  <dcterms:created xsi:type="dcterms:W3CDTF">2026-04-16T22:50:43Z</dcterms:created>
  <dcterms:modified xsi:type="dcterms:W3CDTF">2026-04-20T23:14:56Z</dcterms:modified>
  <cp:category/>
  <dc:identifier/>
  <cp:contentStatus/>
  <dc:language/>
  <cp:version/>
</cp:coreProperties>
</file>